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343"/>
    <a:srgbClr val="FFFF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2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81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0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0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794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5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72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21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610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27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21-Jan-26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4032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21-Jan-26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465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088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57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563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21-Jan-26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62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21-Jan-26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4860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5E859-0292-D413-A3D2-D7B3241C4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9595" y="2338087"/>
            <a:ext cx="10475089" cy="109091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cap="none" dirty="0">
                <a:gradFill flip="none" rotWithShape="1">
                  <a:gsLst>
                    <a:gs pos="30000">
                      <a:srgbClr val="FFFF71"/>
                    </a:gs>
                    <a:gs pos="2000">
                      <a:schemeClr val="bg2">
                        <a:lumMod val="40000"/>
                        <a:lumOff val="60000"/>
                      </a:schemeClr>
                    </a:gs>
                    <a:gs pos="75000">
                      <a:srgbClr val="FF0000"/>
                    </a:gs>
                    <a:gs pos="100000">
                      <a:srgbClr val="7030A0"/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en-US" b="1" cap="none" dirty="0">
                <a:gradFill flip="none" rotWithShape="1">
                  <a:gsLst>
                    <a:gs pos="47000">
                      <a:srgbClr val="FFFF71"/>
                    </a:gs>
                    <a:gs pos="2000">
                      <a:schemeClr val="tx2"/>
                    </a:gs>
                    <a:gs pos="83000">
                      <a:srgbClr val="FF000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Hikes </a:t>
            </a:r>
            <a:r>
              <a:rPr lang="en-US" b="1" dirty="0">
                <a:gradFill flip="none" rotWithShape="1">
                  <a:gsLst>
                    <a:gs pos="47000">
                      <a:srgbClr val="FFFF71"/>
                    </a:gs>
                    <a:gs pos="2000">
                      <a:schemeClr val="tx2"/>
                    </a:gs>
                    <a:gs pos="83000">
                      <a:srgbClr val="FF000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b="1" dirty="0">
                <a:gradFill flip="none" rotWithShape="1">
                  <a:gsLst>
                    <a:gs pos="23000">
                      <a:srgbClr val="FFFF71"/>
                    </a:gs>
                    <a:gs pos="2000">
                      <a:schemeClr val="tx2"/>
                    </a:gs>
                    <a:gs pos="61000">
                      <a:schemeClr val="accent1">
                        <a:lumMod val="60000"/>
                        <a:lumOff val="40000"/>
                      </a:schemeClr>
                    </a:gs>
                    <a:gs pos="90000">
                      <a:schemeClr val="accent6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1" cap="none" dirty="0">
                <a:gradFill flip="none" rotWithShape="1">
                  <a:gsLst>
                    <a:gs pos="23000">
                      <a:srgbClr val="FFFF71"/>
                    </a:gs>
                    <a:gs pos="2000">
                      <a:schemeClr val="tx2"/>
                    </a:gs>
                    <a:gs pos="61000">
                      <a:schemeClr val="accent1">
                        <a:lumMod val="60000"/>
                        <a:lumOff val="40000"/>
                      </a:schemeClr>
                    </a:gs>
                    <a:gs pos="90000">
                      <a:schemeClr val="accent6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olutions</a:t>
            </a:r>
            <a:endParaRPr lang="en-US" b="1" dirty="0">
              <a:gradFill flip="none" rotWithShape="1">
                <a:gsLst>
                  <a:gs pos="23000">
                    <a:srgbClr val="FFFF71"/>
                  </a:gs>
                  <a:gs pos="2000">
                    <a:schemeClr val="tx2"/>
                  </a:gs>
                  <a:gs pos="61000">
                    <a:schemeClr val="accent1">
                      <a:lumMod val="60000"/>
                      <a:lumOff val="40000"/>
                    </a:schemeClr>
                  </a:gs>
                  <a:gs pos="90000">
                    <a:schemeClr val="accent6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8AAF8-B2FD-CEF6-4AB7-455AAA03D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26413" y="1122744"/>
            <a:ext cx="3302461" cy="121534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D98948-5C85-29B5-1AFF-79ACCB94C6E6}"/>
              </a:ext>
            </a:extLst>
          </p:cNvPr>
          <p:cNvSpPr txBox="1"/>
          <p:nvPr/>
        </p:nvSpPr>
        <p:spPr>
          <a:xfrm>
            <a:off x="1715946" y="3429000"/>
            <a:ext cx="9222129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chemeClr val="bg1"/>
                </a:solidFill>
                <a:effectLst/>
                <a:latin typeface="Work Sans"/>
              </a:rPr>
              <a:t>Next Hikes | Elevating Digital Experiences</a:t>
            </a:r>
          </a:p>
          <a:p>
            <a:pPr algn="l">
              <a:buNone/>
            </a:pPr>
            <a:endParaRPr lang="en-US" b="1" i="0" dirty="0">
              <a:solidFill>
                <a:schemeClr val="bg1"/>
              </a:solidFill>
              <a:effectLst/>
              <a:latin typeface="Work Sans"/>
            </a:endParaRPr>
          </a:p>
          <a:p>
            <a:pPr algn="just"/>
            <a:r>
              <a:rPr lang="en-US" sz="1600" b="1" dirty="0">
                <a:solidFill>
                  <a:schemeClr val="bg1"/>
                </a:solidFill>
                <a:latin typeface="Work Sans"/>
              </a:rPr>
              <a:t>Next Hike IT Solutions </a:t>
            </a:r>
            <a:r>
              <a:rPr lang="en-US" sz="1600" dirty="0">
                <a:solidFill>
                  <a:schemeClr val="bg1"/>
                </a:solidFill>
                <a:latin typeface="Work Sans"/>
              </a:rPr>
              <a:t>is a growing IT services and solutions company that focuses on delivering innovative, reliable, and cost-effective technology solutions. The company specializes in providing end-to-end IT services, helping businesses improve efficiency, productivity, and digital transformation.</a:t>
            </a:r>
          </a:p>
          <a:p>
            <a:pPr algn="just"/>
            <a:r>
              <a:rPr lang="en-US" sz="1600" b="1" dirty="0">
                <a:solidFill>
                  <a:schemeClr val="bg1"/>
                </a:solidFill>
                <a:latin typeface="Work Sans"/>
              </a:rPr>
              <a:t>Next Hike IT Solutions </a:t>
            </a:r>
            <a:r>
              <a:rPr lang="en-US" sz="1600" dirty="0">
                <a:solidFill>
                  <a:schemeClr val="bg1"/>
                </a:solidFill>
                <a:latin typeface="Work Sans"/>
              </a:rPr>
              <a:t>is committed to quality, client satisfaction, and continuous innovation, making it a trusted technology partner for organizations across various industries.</a:t>
            </a:r>
          </a:p>
        </p:txBody>
      </p:sp>
    </p:spTree>
    <p:extLst>
      <p:ext uri="{BB962C8B-B14F-4D97-AF65-F5344CB8AC3E}">
        <p14:creationId xmlns:p14="http://schemas.microsoft.com/office/powerpoint/2010/main" val="145209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9766-DBA4-A3CB-9FFD-4FC129CD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598027"/>
            <a:ext cx="9404723" cy="739474"/>
          </a:xfrm>
        </p:spPr>
        <p:txBody>
          <a:bodyPr/>
          <a:lstStyle/>
          <a:p>
            <a:r>
              <a:rPr lang="en-US" sz="3600" dirty="0">
                <a:latin typeface="Work Sans"/>
              </a:rPr>
              <a:t>Introduction – Roshan Kumar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9EC80-9674-E456-741C-5461D83F8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64492"/>
            <a:ext cx="9404723" cy="4195481"/>
          </a:xfrm>
        </p:spPr>
        <p:txBody>
          <a:bodyPr>
            <a:normAutofit/>
          </a:bodyPr>
          <a:lstStyle/>
          <a:p>
            <a:r>
              <a:rPr lang="en-US" sz="1600" dirty="0"/>
              <a:t>My name is </a:t>
            </a:r>
            <a:r>
              <a:rPr lang="en-US" sz="1600" b="1" dirty="0"/>
              <a:t>Roshan Kumar</a:t>
            </a:r>
            <a:r>
              <a:rPr lang="en-US" sz="1600" dirty="0"/>
              <a:t>, and I am passionate about </a:t>
            </a:r>
            <a:r>
              <a:rPr lang="en-US" sz="1600" b="1" dirty="0"/>
              <a:t>data analysis and dashboard development</a:t>
            </a:r>
            <a:r>
              <a:rPr lang="en-US" sz="1600" dirty="0"/>
              <a:t>.</a:t>
            </a:r>
          </a:p>
          <a:p>
            <a:r>
              <a:rPr lang="en-US" sz="1600" dirty="0"/>
              <a:t>I have hands-on experience in </a:t>
            </a:r>
            <a:r>
              <a:rPr lang="en-US" sz="1600" b="1" dirty="0"/>
              <a:t>Excel, Power Query, Pivot Tables, and VBA Macros</a:t>
            </a:r>
            <a:r>
              <a:rPr lang="en-US" sz="1600" dirty="0"/>
              <a:t>.</a:t>
            </a:r>
          </a:p>
          <a:p>
            <a:r>
              <a:rPr lang="en-US" sz="1600" dirty="0"/>
              <a:t>I enjoy working on </a:t>
            </a:r>
            <a:r>
              <a:rPr lang="en-US" sz="1600" b="1" dirty="0"/>
              <a:t>data cleaning, transformation, and automation</a:t>
            </a:r>
            <a:r>
              <a:rPr lang="en-US" sz="1600" dirty="0"/>
              <a:t> to convert raw data into meaningful insights.</a:t>
            </a:r>
          </a:p>
          <a:p>
            <a:r>
              <a:rPr lang="en-US" sz="1600" dirty="0"/>
              <a:t>I focus on building </a:t>
            </a:r>
            <a:r>
              <a:rPr lang="en-US" sz="1600" b="1" dirty="0"/>
              <a:t>interactive, user-friendly, and scalable dashboards</a:t>
            </a:r>
            <a:r>
              <a:rPr lang="en-US" sz="1600" dirty="0"/>
              <a:t> for effective decision-making.</a:t>
            </a:r>
          </a:p>
          <a:p>
            <a:r>
              <a:rPr lang="en-US" sz="1600" dirty="0"/>
              <a:t>This project showcases my ability to handle </a:t>
            </a:r>
            <a:r>
              <a:rPr lang="en-US" sz="1600" b="1" dirty="0"/>
              <a:t>end-to-end data workflows</a:t>
            </a:r>
            <a:r>
              <a:rPr lang="en-US" sz="1600" dirty="0"/>
              <a:t>, from raw datasets to professional dashboards.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9387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63745-D811-46F5-0B6C-A647DF80A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1" y="1307118"/>
            <a:ext cx="5918889" cy="5428356"/>
          </a:xfrm>
        </p:spPr>
        <p:txBody>
          <a:bodyPr>
            <a:normAutofit/>
          </a:bodyPr>
          <a:lstStyle/>
          <a:p>
            <a:pPr algn="just"/>
            <a:r>
              <a:rPr lang="en-US" sz="1600" dirty="0"/>
              <a:t>Initially, </a:t>
            </a:r>
            <a:r>
              <a:rPr lang="en-US" sz="1600" b="1" dirty="0"/>
              <a:t>Dataset_1 was converted into a structured table</a:t>
            </a:r>
            <a:r>
              <a:rPr lang="en-US" sz="1600" dirty="0"/>
              <a:t> and then modified as per analysis requirements.</a:t>
            </a:r>
          </a:p>
          <a:p>
            <a:pPr algn="just"/>
            <a:r>
              <a:rPr lang="en-US" sz="1600" b="1" dirty="0"/>
              <a:t>Temperature values were formatted in Degree Celsius (°C)</a:t>
            </a:r>
            <a:r>
              <a:rPr lang="en-US" sz="1600" dirty="0"/>
              <a:t> using the </a:t>
            </a:r>
            <a:r>
              <a:rPr lang="en-US" sz="1600" i="1" dirty="0"/>
              <a:t>Format Cells</a:t>
            </a:r>
            <a:r>
              <a:rPr lang="en-US" sz="1600" dirty="0"/>
              <a:t> option.</a:t>
            </a:r>
          </a:p>
          <a:p>
            <a:pPr algn="just"/>
            <a:r>
              <a:rPr lang="en-US" sz="1600" b="1" dirty="0"/>
              <a:t>Time, Month, and Year</a:t>
            </a:r>
            <a:r>
              <a:rPr lang="en-US" sz="1600" dirty="0"/>
              <a:t> were extracted into separate columns using </a:t>
            </a:r>
            <a:r>
              <a:rPr lang="en-US" sz="1600" b="1" dirty="0"/>
              <a:t>TEXT and TIME functions</a:t>
            </a:r>
            <a:r>
              <a:rPr lang="en-US" sz="1600" dirty="0"/>
              <a:t> to ensure accurate values.</a:t>
            </a:r>
          </a:p>
          <a:p>
            <a:pPr algn="just"/>
            <a:r>
              <a:rPr lang="en-US" sz="1600" b="1" dirty="0"/>
              <a:t>Weather and Season columns</a:t>
            </a:r>
            <a:r>
              <a:rPr lang="en-US" sz="1600" dirty="0"/>
              <a:t> were populated using the </a:t>
            </a:r>
            <a:r>
              <a:rPr lang="en-US" sz="1600" b="1" dirty="0"/>
              <a:t>SWITCH function</a:t>
            </a:r>
            <a:r>
              <a:rPr lang="en-US" sz="1600" dirty="0"/>
              <a:t>, making the system dynamic—any new season added in the future will be picked automatically.</a:t>
            </a:r>
          </a:p>
          <a:p>
            <a:pPr algn="just"/>
            <a:r>
              <a:rPr lang="en-US" sz="1600" dirty="0"/>
              <a:t>Missing (blank) temperature values were handled by creating a </a:t>
            </a:r>
            <a:r>
              <a:rPr lang="en-US" sz="1600" b="1" dirty="0"/>
              <a:t>new column where blanks are automatically replaced with the Mean (Average)</a:t>
            </a:r>
            <a:r>
              <a:rPr lang="en-US" sz="1600" dirty="0"/>
              <a:t> temperature value.</a:t>
            </a:r>
          </a:p>
          <a:p>
            <a:pPr algn="just"/>
            <a:r>
              <a:rPr lang="en-US" sz="1600" dirty="0"/>
              <a:t>This ensures </a:t>
            </a:r>
            <a:r>
              <a:rPr lang="en-US" sz="1600" b="1" dirty="0"/>
              <a:t>data consistency, accuracy, and a fully automated workflow</a:t>
            </a:r>
            <a:r>
              <a:rPr lang="en-US" sz="1600" dirty="0"/>
              <a:t> for future updates.</a:t>
            </a:r>
          </a:p>
          <a:p>
            <a:pPr algn="just"/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69279-41FC-8656-8C6B-CB3177DC2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262" y="1307118"/>
            <a:ext cx="5891938" cy="35886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D15B36-4C01-D1D5-BA6D-942FE96E3CB5}"/>
              </a:ext>
            </a:extLst>
          </p:cNvPr>
          <p:cNvSpPr txBox="1"/>
          <p:nvPr/>
        </p:nvSpPr>
        <p:spPr>
          <a:xfrm>
            <a:off x="177111" y="486136"/>
            <a:ext cx="10249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latin typeface="Work Sans"/>
              </a:rPr>
              <a:t>Dataset_1 </a:t>
            </a:r>
            <a:r>
              <a:rPr lang="en-US" sz="3600" dirty="0"/>
              <a:t>– Data Preparation &amp; Automation</a:t>
            </a:r>
            <a:endParaRPr lang="en-US" sz="3600" u="sng" dirty="0">
              <a:latin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254317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2E0-0F7C-51E6-E1AB-0A67B819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12" y="469901"/>
            <a:ext cx="10263188" cy="800099"/>
          </a:xfrm>
        </p:spPr>
        <p:txBody>
          <a:bodyPr/>
          <a:lstStyle/>
          <a:p>
            <a:r>
              <a:rPr lang="en-US" sz="3600" b="1" u="sng" dirty="0">
                <a:latin typeface="Work Sans"/>
              </a:rPr>
              <a:t>Dataset_2 </a:t>
            </a:r>
            <a:r>
              <a:rPr lang="en-US" sz="3600" dirty="0">
                <a:latin typeface="Work Sans"/>
              </a:rPr>
              <a:t>– Data Cleaning &amp; Standardization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7586A-4DB9-FF3B-DB58-6D19AE41A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12" y="1468718"/>
            <a:ext cx="6376988" cy="4195481"/>
          </a:xfrm>
        </p:spPr>
        <p:txBody>
          <a:bodyPr>
            <a:normAutofit/>
          </a:bodyPr>
          <a:lstStyle/>
          <a:p>
            <a:pPr algn="just"/>
            <a:r>
              <a:rPr lang="en-US" sz="1600" b="1" dirty="0"/>
              <a:t>Dataset_2 was converted into a structured table</a:t>
            </a:r>
            <a:r>
              <a:rPr lang="en-US" sz="1600" dirty="0"/>
              <a:t> for better data handling and consistency.</a:t>
            </a:r>
          </a:p>
          <a:p>
            <a:pPr algn="just"/>
            <a:r>
              <a:rPr lang="en-US" sz="1600" dirty="0"/>
              <a:t>Missing temperature values were </a:t>
            </a:r>
            <a:r>
              <a:rPr lang="en-US" sz="1600" b="1" dirty="0"/>
              <a:t>assumed and filled using the same Mean (Average) method</a:t>
            </a:r>
            <a:r>
              <a:rPr lang="en-US" sz="1600" dirty="0"/>
              <a:t>, ensuring uniformity across the dataset.</a:t>
            </a:r>
          </a:p>
          <a:p>
            <a:pPr algn="just"/>
            <a:r>
              <a:rPr lang="en-US" sz="1600" b="1" dirty="0"/>
              <a:t>Temperature values were formatted in Degree Celsius (°C)</a:t>
            </a:r>
            <a:r>
              <a:rPr lang="en-US" sz="1600" dirty="0"/>
              <a:t> using cell formatting.</a:t>
            </a:r>
          </a:p>
          <a:p>
            <a:pPr algn="just"/>
            <a:r>
              <a:rPr lang="en-US" sz="1600" b="1" dirty="0"/>
              <a:t>Humidity data was converted into Percentage (%) format</a:t>
            </a:r>
            <a:r>
              <a:rPr lang="en-US" sz="1600" dirty="0"/>
              <a:t> to improve readability and analysis accuracy.</a:t>
            </a:r>
          </a:p>
          <a:p>
            <a:pPr algn="just"/>
            <a:r>
              <a:rPr lang="en-US" sz="1600" dirty="0"/>
              <a:t>These steps ensure </a:t>
            </a:r>
            <a:r>
              <a:rPr lang="en-US" sz="1600" b="1" dirty="0"/>
              <a:t>standardized data, reduced missing values, and improved analytical reliability</a:t>
            </a:r>
            <a:r>
              <a:rPr lang="en-US" sz="1600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96D95-248D-4275-C925-CDD82248A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00" y="1468718"/>
            <a:ext cx="5589587" cy="387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71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60B1-C1F3-AF4D-BB61-3BDBFC5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48" y="351118"/>
            <a:ext cx="10199689" cy="906182"/>
          </a:xfrm>
        </p:spPr>
        <p:txBody>
          <a:bodyPr/>
          <a:lstStyle/>
          <a:p>
            <a:r>
              <a:rPr lang="en-US" sz="3600" b="1" u="sng" dirty="0">
                <a:latin typeface="Work Sans"/>
              </a:rPr>
              <a:t>Dataset_3 </a:t>
            </a:r>
            <a:r>
              <a:rPr lang="en-US" sz="3600" dirty="0">
                <a:latin typeface="Work Sans"/>
              </a:rPr>
              <a:t>– Feature Engineering &amp; Visualization Readiness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BC54-7260-E0EC-C04D-B312C506D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48" y="1600200"/>
            <a:ext cx="6110289" cy="4377764"/>
          </a:xfrm>
        </p:spPr>
        <p:txBody>
          <a:bodyPr>
            <a:normAutofit/>
          </a:bodyPr>
          <a:lstStyle/>
          <a:p>
            <a:pPr algn="just"/>
            <a:r>
              <a:rPr lang="en-US" sz="1600" b="1" dirty="0"/>
              <a:t>Dataset_3 followed the same data preparation approach</a:t>
            </a:r>
            <a:r>
              <a:rPr lang="en-US" sz="1600" dirty="0"/>
              <a:t> as Dataset_1 and Dataset_2 to maintain consistency.</a:t>
            </a:r>
          </a:p>
          <a:p>
            <a:pPr algn="just"/>
            <a:r>
              <a:rPr lang="en-US" sz="1600" dirty="0"/>
              <a:t>The dataset contained similar data, so </a:t>
            </a:r>
            <a:r>
              <a:rPr lang="en-US" sz="1600" b="1" dirty="0"/>
              <a:t>identical cleaning and transformation techniques</a:t>
            </a:r>
            <a:r>
              <a:rPr lang="en-US" sz="1600" dirty="0"/>
              <a:t> were applied.</a:t>
            </a:r>
          </a:p>
          <a:p>
            <a:pPr algn="just"/>
            <a:r>
              <a:rPr lang="en-US" sz="1600" dirty="0"/>
              <a:t>Missing </a:t>
            </a:r>
            <a:r>
              <a:rPr lang="en-US" sz="1600" b="1" dirty="0"/>
              <a:t>humidity values were filled using the Mean (Average)</a:t>
            </a:r>
            <a:r>
              <a:rPr lang="en-US" sz="1600" dirty="0"/>
              <a:t> method to avoid data gaps.</a:t>
            </a:r>
          </a:p>
          <a:p>
            <a:pPr algn="just"/>
            <a:r>
              <a:rPr lang="en-US" sz="1600" dirty="0"/>
              <a:t>Additional columns such as </a:t>
            </a:r>
            <a:r>
              <a:rPr lang="en-US" sz="1600" b="1" dirty="0"/>
              <a:t>Week Name, Weather Condition, Season, Time, Month, Year, and Date</a:t>
            </a:r>
            <a:r>
              <a:rPr lang="en-US" sz="1600" dirty="0"/>
              <a:t> were created for enhanced analysis.</a:t>
            </a:r>
          </a:p>
          <a:p>
            <a:pPr algn="just"/>
            <a:r>
              <a:rPr lang="en-US" sz="1600" dirty="0"/>
              <a:t>These derived columns help in </a:t>
            </a:r>
            <a:r>
              <a:rPr lang="en-US" sz="1600" b="1" dirty="0"/>
              <a:t>better filtering, trend analysis, and perfect visualization</a:t>
            </a:r>
            <a:r>
              <a:rPr lang="en-US" sz="1600" dirty="0"/>
              <a:t> within the dashboard.</a:t>
            </a:r>
          </a:p>
          <a:p>
            <a:pPr algn="just"/>
            <a:r>
              <a:rPr lang="en-US" sz="1600" dirty="0"/>
              <a:t>Overall, the dataset is </a:t>
            </a:r>
            <a:r>
              <a:rPr lang="en-US" sz="1600" b="1" dirty="0"/>
              <a:t>fully structured and analysis-ready</a:t>
            </a:r>
            <a:r>
              <a:rPr lang="en-US" sz="1600" dirty="0"/>
              <a:t> for dynamic dashboard reporting.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E6B05-7062-6F8F-BE7A-0F60B12AC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1600200"/>
            <a:ext cx="5684252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3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CC4F8-9CAF-ECA7-8B97-8E12CD774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3" y="290795"/>
            <a:ext cx="10186987" cy="1080805"/>
          </a:xfrm>
        </p:spPr>
        <p:txBody>
          <a:bodyPr/>
          <a:lstStyle/>
          <a:p>
            <a:r>
              <a:rPr lang="en-US" sz="3600" b="1" u="sng" dirty="0">
                <a:latin typeface="Work Sans"/>
              </a:rPr>
              <a:t>Result(A) </a:t>
            </a:r>
            <a:r>
              <a:rPr lang="en-US" sz="3600" dirty="0">
                <a:latin typeface="Work Sans"/>
              </a:rPr>
              <a:t>– Power Query Transformation &amp; Data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F6516-E6D6-8384-5093-57FEC7A64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512" y="1671460"/>
            <a:ext cx="5640388" cy="460031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b="1" dirty="0"/>
              <a:t>Dataset_1, Dataset_2, and Dataset_3</a:t>
            </a:r>
            <a:r>
              <a:rPr lang="en-US" dirty="0"/>
              <a:t> were imported into </a:t>
            </a:r>
            <a:r>
              <a:rPr lang="en-US" b="1" dirty="0"/>
              <a:t>Power Query</a:t>
            </a:r>
            <a:r>
              <a:rPr lang="en-US" dirty="0"/>
              <a:t> for data transformation and cleaning.</a:t>
            </a:r>
          </a:p>
          <a:p>
            <a:pPr algn="just"/>
            <a:r>
              <a:rPr lang="en-US" dirty="0"/>
              <a:t>After cleaning, all datasets were </a:t>
            </a:r>
            <a:r>
              <a:rPr lang="en-US" b="1" dirty="0"/>
              <a:t>saved as connections only</a:t>
            </a:r>
            <a:r>
              <a:rPr lang="en-US" dirty="0"/>
              <a:t>, ensuring better performance and efficient data management.</a:t>
            </a:r>
          </a:p>
          <a:p>
            <a:pPr algn="just"/>
            <a:r>
              <a:rPr lang="en-US" dirty="0"/>
              <a:t>A new dataset named </a:t>
            </a:r>
            <a:r>
              <a:rPr lang="en-US" b="1" dirty="0"/>
              <a:t>Result (A)</a:t>
            </a:r>
            <a:r>
              <a:rPr lang="en-US" dirty="0"/>
              <a:t> was created for consolidated analysis.</a:t>
            </a:r>
          </a:p>
          <a:p>
            <a:pPr algn="just"/>
            <a:r>
              <a:rPr lang="en-US" b="1" dirty="0"/>
              <a:t>Dataset_1 and Dataset_2 were merged</a:t>
            </a:r>
            <a:r>
              <a:rPr lang="en-US" dirty="0"/>
              <a:t> with “full outer join” using a </a:t>
            </a:r>
            <a:r>
              <a:rPr lang="en-US" b="1" dirty="0"/>
              <a:t>unique key column named “Instant”</a:t>
            </a:r>
            <a:r>
              <a:rPr lang="en-US" dirty="0"/>
              <a:t> to ensure accurate data matching.</a:t>
            </a:r>
          </a:p>
          <a:p>
            <a:pPr algn="just"/>
            <a:r>
              <a:rPr lang="en-US" dirty="0"/>
              <a:t>The merged dataset was then </a:t>
            </a:r>
            <a:r>
              <a:rPr lang="en-US" b="1" dirty="0"/>
              <a:t>loaded as a connection</a:t>
            </a:r>
            <a:r>
              <a:rPr lang="en-US" dirty="0"/>
              <a:t>, making it ready for further analysis and dashboard development.</a:t>
            </a:r>
          </a:p>
          <a:p>
            <a:pPr algn="just"/>
            <a:r>
              <a:rPr lang="en-US" dirty="0"/>
              <a:t>This approach improves </a:t>
            </a:r>
            <a:r>
              <a:rPr lang="en-US" b="1" dirty="0"/>
              <a:t>data accuracy, scalability, and overall analytical efficiency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8EBBD-1C32-2ACD-0B67-EDE54733C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911" y="1671459"/>
            <a:ext cx="6124577" cy="46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1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9175-8F0D-EBB0-F2F1-ED7B5B5C1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3" y="440018"/>
            <a:ext cx="10110787" cy="690282"/>
          </a:xfrm>
        </p:spPr>
        <p:txBody>
          <a:bodyPr/>
          <a:lstStyle/>
          <a:p>
            <a:r>
              <a:rPr lang="en-US" sz="3600" b="1" u="sng" dirty="0">
                <a:latin typeface="Work Sans"/>
              </a:rPr>
              <a:t>Result(B) </a:t>
            </a:r>
            <a:r>
              <a:rPr lang="en-US" sz="3600" dirty="0">
                <a:latin typeface="Work Sans"/>
              </a:rPr>
              <a:t>– Data Appending &amp; Final Feature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1922-03CD-9360-3CBC-ED244C00B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13" y="1595718"/>
            <a:ext cx="6351587" cy="4195481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Result (A)</a:t>
            </a:r>
            <a:r>
              <a:rPr lang="en-US" dirty="0"/>
              <a:t> dataset had the same structure as </a:t>
            </a:r>
            <a:r>
              <a:rPr lang="en-US" b="1" dirty="0"/>
              <a:t>Dataset_3</a:t>
            </a:r>
            <a:r>
              <a:rPr lang="en-US" dirty="0"/>
              <a:t>, so both were </a:t>
            </a:r>
            <a:r>
              <a:rPr lang="en-US" b="1" dirty="0"/>
              <a:t>appended in Power Query</a:t>
            </a:r>
            <a:r>
              <a:rPr lang="en-US" dirty="0"/>
              <a:t> to create a unified dataset.</a:t>
            </a:r>
          </a:p>
          <a:p>
            <a:pPr algn="just"/>
            <a:r>
              <a:rPr lang="en-US" dirty="0"/>
              <a:t>Data was </a:t>
            </a:r>
            <a:r>
              <a:rPr lang="en-US" b="1" dirty="0"/>
              <a:t>sorted (sequenced)</a:t>
            </a:r>
            <a:r>
              <a:rPr lang="en-US" dirty="0"/>
              <a:t> to ensure that any future data additions appear in the correct order automatically.</a:t>
            </a:r>
          </a:p>
          <a:p>
            <a:pPr algn="just"/>
            <a:r>
              <a:rPr lang="en-US" dirty="0"/>
              <a:t>The appended data was then </a:t>
            </a:r>
            <a:r>
              <a:rPr lang="en-US" b="1" dirty="0"/>
              <a:t>loaded</a:t>
            </a:r>
            <a:r>
              <a:rPr lang="en-US" dirty="0"/>
              <a:t>, creating a new dataset named </a:t>
            </a:r>
            <a:r>
              <a:rPr lang="en-US" b="1" dirty="0"/>
              <a:t>Result (B)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In both </a:t>
            </a:r>
            <a:r>
              <a:rPr lang="en-US" b="1" dirty="0"/>
              <a:t>Result (A) and Result (B)</a:t>
            </a:r>
            <a:r>
              <a:rPr lang="en-US" dirty="0"/>
              <a:t>, two additional columns were created for dashboard usability:</a:t>
            </a:r>
          </a:p>
          <a:p>
            <a:pPr algn="just"/>
            <a:r>
              <a:rPr lang="en-US" b="1" dirty="0"/>
              <a:t>AM/PM</a:t>
            </a:r>
            <a:r>
              <a:rPr lang="en-US" dirty="0"/>
              <a:t> extracted from the </a:t>
            </a:r>
            <a:r>
              <a:rPr lang="en-US" i="1" dirty="0"/>
              <a:t>Time</a:t>
            </a:r>
            <a:r>
              <a:rPr lang="en-US" dirty="0"/>
              <a:t> column for </a:t>
            </a:r>
            <a:r>
              <a:rPr lang="en-US" b="1" dirty="0"/>
              <a:t>slicer-based filtering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Day Name / Day</a:t>
            </a:r>
            <a:r>
              <a:rPr lang="en-US" dirty="0"/>
              <a:t> extracted from the </a:t>
            </a:r>
            <a:r>
              <a:rPr lang="en-US" i="1" dirty="0"/>
              <a:t>Date</a:t>
            </a:r>
            <a:r>
              <a:rPr lang="en-US" dirty="0"/>
              <a:t> column for </a:t>
            </a:r>
            <a:r>
              <a:rPr lang="en-US" b="1" dirty="0"/>
              <a:t>time-based analysis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These enhancements improve </a:t>
            </a:r>
            <a:r>
              <a:rPr lang="en-US" b="1" dirty="0"/>
              <a:t>interactivity, filtering, and clarity</a:t>
            </a:r>
            <a:r>
              <a:rPr lang="en-US" dirty="0"/>
              <a:t> in the dashboard visualizations.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E78ED-D0B9-1D34-56A4-55EC96BC5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00" y="1595717"/>
            <a:ext cx="5322887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5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3532B-2E95-85DC-31D5-3FADA497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2" y="506235"/>
            <a:ext cx="10275888" cy="878065"/>
          </a:xfrm>
        </p:spPr>
        <p:txBody>
          <a:bodyPr/>
          <a:lstStyle/>
          <a:p>
            <a:r>
              <a:rPr lang="en-US" sz="3500" dirty="0">
                <a:latin typeface="Work Sans"/>
              </a:rPr>
              <a:t>Pivot Tables &amp; Dashboard Backend (Result A &amp; Result 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73E5E-3065-A8F0-F8A1-AD995F0D1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12" y="1536700"/>
            <a:ext cx="6376987" cy="457199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For both </a:t>
            </a:r>
            <a:r>
              <a:rPr lang="en-US" b="1" dirty="0"/>
              <a:t>Result (A)</a:t>
            </a:r>
            <a:r>
              <a:rPr lang="en-US" dirty="0"/>
              <a:t> and </a:t>
            </a:r>
            <a:r>
              <a:rPr lang="en-US" b="1" dirty="0"/>
              <a:t>Result (B)</a:t>
            </a:r>
            <a:r>
              <a:rPr lang="en-US" dirty="0"/>
              <a:t> dashboards, multiple </a:t>
            </a:r>
            <a:r>
              <a:rPr lang="en-US" b="1" dirty="0"/>
              <a:t>Pivot Tables</a:t>
            </a:r>
            <a:r>
              <a:rPr lang="en-US" dirty="0"/>
              <a:t> were created to support different analytical views.</a:t>
            </a:r>
          </a:p>
          <a:p>
            <a:pPr algn="just"/>
            <a:r>
              <a:rPr lang="en-US" dirty="0"/>
              <a:t>Separate pivots were designed for </a:t>
            </a:r>
            <a:r>
              <a:rPr lang="en-US" b="1" dirty="0"/>
              <a:t>report cards</a:t>
            </a:r>
            <a:r>
              <a:rPr lang="en-US" dirty="0"/>
              <a:t> as well as for </a:t>
            </a:r>
            <a:r>
              <a:rPr lang="en-US" b="1" dirty="0"/>
              <a:t>individual charts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Analysis such as </a:t>
            </a:r>
            <a:r>
              <a:rPr lang="en-US" b="1" dirty="0"/>
              <a:t>Temperature vs Bike Rental data</a:t>
            </a:r>
            <a:r>
              <a:rPr lang="en-US" dirty="0"/>
              <a:t> and </a:t>
            </a:r>
            <a:r>
              <a:rPr lang="en-US" b="1" dirty="0"/>
              <a:t>Weekend-wise trends</a:t>
            </a:r>
            <a:r>
              <a:rPr lang="en-US" dirty="0"/>
              <a:t> were developed using dedicated pivot tables.</a:t>
            </a:r>
          </a:p>
          <a:p>
            <a:pPr algn="just"/>
            <a:r>
              <a:rPr lang="en-US" dirty="0"/>
              <a:t>All pivot tables for each result set were </a:t>
            </a:r>
            <a:r>
              <a:rPr lang="en-US" b="1" dirty="0"/>
              <a:t>organized into a single backend sheet</a:t>
            </a:r>
            <a:r>
              <a:rPr lang="en-US" dirty="0"/>
              <a:t>, making it easier to manage and link visuals.</a:t>
            </a:r>
          </a:p>
          <a:p>
            <a:pPr algn="just"/>
            <a:r>
              <a:rPr lang="en-US" dirty="0"/>
              <a:t>Every pivot table was </a:t>
            </a:r>
            <a:r>
              <a:rPr lang="en-US" b="1" dirty="0"/>
              <a:t>linked to its corresponding chart</a:t>
            </a:r>
            <a:r>
              <a:rPr lang="en-US" dirty="0"/>
              <a:t>, enabling dynamic updates through slicers and filters.</a:t>
            </a:r>
          </a:p>
          <a:p>
            <a:pPr algn="just"/>
            <a:r>
              <a:rPr lang="en-US" dirty="0"/>
              <a:t>The same structured approach was </a:t>
            </a:r>
            <a:r>
              <a:rPr lang="en-US" b="1" dirty="0"/>
              <a:t>replicated for Result (B)</a:t>
            </a:r>
            <a:r>
              <a:rPr lang="en-US" dirty="0"/>
              <a:t> to maintain consistency across dashboards.</a:t>
            </a:r>
          </a:p>
          <a:p>
            <a:pPr algn="just"/>
            <a:r>
              <a:rPr lang="en-US" dirty="0"/>
              <a:t>This method ensures </a:t>
            </a:r>
            <a:r>
              <a:rPr lang="en-US" b="1" dirty="0"/>
              <a:t>clean visualization, fast refresh performance, and scalability for future data additions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BCFF6-F65C-D0CA-3B8B-26D1FC807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169" y="1536700"/>
            <a:ext cx="5434118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4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66E4-3969-E8B1-CE85-E8D052B53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11" y="88900"/>
            <a:ext cx="9404723" cy="901700"/>
          </a:xfrm>
        </p:spPr>
        <p:txBody>
          <a:bodyPr/>
          <a:lstStyle/>
          <a:p>
            <a:r>
              <a:rPr lang="en-US" sz="3600" dirty="0">
                <a:latin typeface="Work Sans"/>
              </a:rPr>
              <a:t>Dashboard Design &amp; Interactivity </a:t>
            </a:r>
            <a:br>
              <a:rPr lang="en-US" sz="3600" dirty="0">
                <a:latin typeface="Work Sans"/>
              </a:rPr>
            </a:br>
            <a:r>
              <a:rPr lang="en-US" sz="3600" dirty="0">
                <a:latin typeface="Work Sans"/>
              </a:rPr>
              <a:t>(Dashboard A &amp; Dashboard 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513D7-E230-8EBE-AD07-ABAB64D38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384300"/>
            <a:ext cx="7607300" cy="5249582"/>
          </a:xfrm>
        </p:spPr>
        <p:txBody>
          <a:bodyPr>
            <a:normAutofit fontScale="92500"/>
          </a:bodyPr>
          <a:lstStyle/>
          <a:p>
            <a:pPr algn="just">
              <a:lnSpc>
                <a:spcPct val="90000"/>
              </a:lnSpc>
            </a:pPr>
            <a:r>
              <a:rPr lang="en-US" sz="1400" dirty="0"/>
              <a:t>Two dashboards were developed: </a:t>
            </a:r>
            <a:r>
              <a:rPr lang="en-US" sz="1400" b="1" dirty="0"/>
              <a:t>Dashboard (A)</a:t>
            </a:r>
            <a:r>
              <a:rPr lang="en-US" sz="1400" dirty="0"/>
              <a:t> based on </a:t>
            </a:r>
            <a:r>
              <a:rPr lang="en-US" sz="1400" b="1" dirty="0"/>
              <a:t>Result (A)</a:t>
            </a:r>
            <a:r>
              <a:rPr lang="en-US" sz="1400" dirty="0"/>
              <a:t> data and </a:t>
            </a:r>
            <a:r>
              <a:rPr lang="en-US" sz="1400" b="1" dirty="0"/>
              <a:t>Dashboard (B)</a:t>
            </a:r>
            <a:r>
              <a:rPr lang="en-US" sz="1400" dirty="0"/>
              <a:t> based on </a:t>
            </a:r>
            <a:r>
              <a:rPr lang="en-US" sz="1400" b="1" dirty="0"/>
              <a:t>Result (B)</a:t>
            </a:r>
            <a:r>
              <a:rPr lang="en-US" sz="1400" dirty="0"/>
              <a:t> data.</a:t>
            </a:r>
          </a:p>
          <a:p>
            <a:pPr algn="just">
              <a:lnSpc>
                <a:spcPct val="90000"/>
              </a:lnSpc>
            </a:pPr>
            <a:r>
              <a:rPr lang="en-US" sz="1400" b="1" dirty="0"/>
              <a:t>Dashboard (A)</a:t>
            </a:r>
            <a:r>
              <a:rPr lang="en-US" sz="1400" dirty="0"/>
              <a:t> follows the </a:t>
            </a:r>
            <a:r>
              <a:rPr lang="en-US" sz="1400" b="1" dirty="0" err="1"/>
              <a:t>NextHike</a:t>
            </a:r>
            <a:r>
              <a:rPr lang="en-US" sz="1400" b="1" dirty="0"/>
              <a:t> color theme</a:t>
            </a:r>
            <a:r>
              <a:rPr lang="en-US" sz="1400" dirty="0"/>
              <a:t>, using a </a:t>
            </a:r>
            <a:r>
              <a:rPr lang="en-US" sz="1400" b="1" dirty="0"/>
              <a:t>gradient background</a:t>
            </a:r>
            <a:r>
              <a:rPr lang="en-US" sz="1400" dirty="0"/>
              <a:t> and consistent visual styling.</a:t>
            </a:r>
          </a:p>
          <a:p>
            <a:pPr algn="just">
              <a:lnSpc>
                <a:spcPct val="90000"/>
              </a:lnSpc>
            </a:pPr>
            <a:r>
              <a:rPr lang="en-US" sz="1400" b="1" dirty="0"/>
              <a:t>Dashboard (B)</a:t>
            </a:r>
            <a:r>
              <a:rPr lang="en-US" sz="1400" dirty="0"/>
              <a:t> was designed with a </a:t>
            </a:r>
            <a:r>
              <a:rPr lang="en-US" sz="1400" b="1" dirty="0"/>
              <a:t>different light background</a:t>
            </a:r>
            <a:r>
              <a:rPr lang="en-US" sz="1400" dirty="0"/>
              <a:t>, giving it a </a:t>
            </a:r>
            <a:r>
              <a:rPr lang="en-US" sz="1400" b="1" dirty="0"/>
              <a:t>clean and simple look</a:t>
            </a:r>
            <a:r>
              <a:rPr lang="en-US" sz="1400" dirty="0"/>
              <a:t> for better readability.</a:t>
            </a:r>
          </a:p>
          <a:p>
            <a:pPr algn="just">
              <a:lnSpc>
                <a:spcPct val="90000"/>
              </a:lnSpc>
            </a:pPr>
            <a:r>
              <a:rPr lang="en-US" sz="1400" dirty="0"/>
              <a:t>Multiple </a:t>
            </a:r>
            <a:r>
              <a:rPr lang="en-US" sz="1400" b="1" dirty="0"/>
              <a:t>slicers</a:t>
            </a:r>
            <a:r>
              <a:rPr lang="en-US" sz="1400" dirty="0"/>
              <a:t> were implemented to analyze data from various perspectives, including:</a:t>
            </a:r>
          </a:p>
          <a:p>
            <a:pPr algn="just">
              <a:lnSpc>
                <a:spcPct val="90000"/>
              </a:lnSpc>
            </a:pPr>
            <a:r>
              <a:rPr lang="en-US" sz="1400" b="1" dirty="0"/>
              <a:t>Date-wise, Month-wise, Time-wise</a:t>
            </a:r>
            <a:endParaRPr lang="en-US" sz="1400" dirty="0"/>
          </a:p>
          <a:p>
            <a:pPr algn="just">
              <a:lnSpc>
                <a:spcPct val="90000"/>
              </a:lnSpc>
            </a:pPr>
            <a:r>
              <a:rPr lang="en-US" sz="1400" b="1" dirty="0"/>
              <a:t>Week-wise, Weekend-wise</a:t>
            </a:r>
            <a:endParaRPr lang="en-US" sz="1400" dirty="0"/>
          </a:p>
          <a:p>
            <a:pPr algn="just">
              <a:lnSpc>
                <a:spcPct val="90000"/>
              </a:lnSpc>
            </a:pPr>
            <a:r>
              <a:rPr lang="en-US" sz="1400" b="1" dirty="0"/>
              <a:t>Weather Condition-wise</a:t>
            </a:r>
            <a:endParaRPr lang="en-US" sz="1400" dirty="0"/>
          </a:p>
          <a:p>
            <a:pPr algn="just">
              <a:lnSpc>
                <a:spcPct val="90000"/>
              </a:lnSpc>
            </a:pPr>
            <a:r>
              <a:rPr lang="en-US" sz="1400" b="1" dirty="0"/>
              <a:t>KPI cards</a:t>
            </a:r>
            <a:r>
              <a:rPr lang="en-US" sz="1400" dirty="0"/>
              <a:t> were created using </a:t>
            </a:r>
            <a:r>
              <a:rPr lang="en-US" sz="1400" b="1" dirty="0"/>
              <a:t>icons</a:t>
            </a:r>
            <a:r>
              <a:rPr lang="en-US" sz="1400" dirty="0"/>
              <a:t> to highlight key metrics clearly.</a:t>
            </a:r>
          </a:p>
          <a:p>
            <a:pPr algn="just">
              <a:lnSpc>
                <a:spcPct val="90000"/>
              </a:lnSpc>
            </a:pPr>
            <a:r>
              <a:rPr lang="en-US" sz="1400" dirty="0"/>
              <a:t>Various </a:t>
            </a:r>
            <a:r>
              <a:rPr lang="en-US" sz="1400" b="1" dirty="0"/>
              <a:t>charts and visuals</a:t>
            </a:r>
            <a:r>
              <a:rPr lang="en-US" sz="1400" dirty="0"/>
              <a:t> were developed to support detailed analysis.</a:t>
            </a:r>
          </a:p>
          <a:p>
            <a:pPr algn="just">
              <a:lnSpc>
                <a:spcPct val="90000"/>
              </a:lnSpc>
            </a:pPr>
            <a:r>
              <a:rPr lang="en-US" sz="1400" dirty="0"/>
              <a:t>A </a:t>
            </a:r>
            <a:r>
              <a:rPr lang="en-US" sz="1400" b="1" dirty="0"/>
              <a:t>VBA Macro</a:t>
            </a:r>
            <a:r>
              <a:rPr lang="en-US" sz="1400" dirty="0"/>
              <a:t> was implemented to </a:t>
            </a:r>
            <a:r>
              <a:rPr lang="en-US" sz="1400" b="1" dirty="0"/>
              <a:t>reset all slicers and filters</a:t>
            </a:r>
            <a:r>
              <a:rPr lang="en-US" sz="1400" dirty="0"/>
              <a:t> in one click.</a:t>
            </a:r>
          </a:p>
          <a:p>
            <a:pPr algn="just">
              <a:lnSpc>
                <a:spcPct val="90000"/>
              </a:lnSpc>
            </a:pPr>
            <a:r>
              <a:rPr lang="en-US" sz="1400" b="1" dirty="0"/>
              <a:t>Stable pivot connections</a:t>
            </a:r>
            <a:r>
              <a:rPr lang="en-US" sz="1400" dirty="0"/>
              <a:t> were established to ensure consistent filtering across all visuals.</a:t>
            </a:r>
          </a:p>
          <a:p>
            <a:pPr algn="just">
              <a:lnSpc>
                <a:spcPct val="90000"/>
              </a:lnSpc>
            </a:pPr>
            <a:r>
              <a:rPr lang="en-US" sz="1400" dirty="0"/>
              <a:t>For a </a:t>
            </a:r>
            <a:r>
              <a:rPr lang="en-US" sz="1400" b="1" dirty="0"/>
              <a:t>better and distraction-free view</a:t>
            </a:r>
            <a:r>
              <a:rPr lang="en-US" sz="1400" dirty="0"/>
              <a:t>, </a:t>
            </a:r>
            <a:r>
              <a:rPr lang="en-US" sz="1400" b="1" dirty="0"/>
              <a:t>sheet tabs, scroll bars, and gridlines were disabled</a:t>
            </a:r>
            <a:r>
              <a:rPr lang="en-US" sz="1400" dirty="0"/>
              <a:t>.</a:t>
            </a:r>
          </a:p>
          <a:p>
            <a:pPr algn="just">
              <a:lnSpc>
                <a:spcPct val="90000"/>
              </a:lnSpc>
            </a:pPr>
            <a:r>
              <a:rPr lang="en-US" sz="1400" dirty="0"/>
              <a:t>All relevant sheets were </a:t>
            </a:r>
            <a:r>
              <a:rPr lang="en-US" sz="1400" b="1" dirty="0"/>
              <a:t>connected using hyperlinks</a:t>
            </a:r>
            <a:r>
              <a:rPr lang="en-US" sz="1400" dirty="0"/>
              <a:t> to enable smooth navigation.</a:t>
            </a:r>
          </a:p>
          <a:p>
            <a:pPr algn="just">
              <a:lnSpc>
                <a:spcPct val="90000"/>
              </a:lnSpc>
            </a:pPr>
            <a:r>
              <a:rPr lang="en-US" sz="1400" dirty="0"/>
              <a:t>The same dashboard logic and interactivity were </a:t>
            </a:r>
            <a:r>
              <a:rPr lang="en-US" sz="1400" b="1" dirty="0"/>
              <a:t>maintained across both dashboards</a:t>
            </a:r>
            <a:r>
              <a:rPr lang="en-US" sz="1400" dirty="0"/>
              <a:t> for consistency.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4B85EF-ECD9-A876-DF1E-A847C647C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0" y="1384300"/>
            <a:ext cx="4230112" cy="2188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4F07BC-8EF0-58F4-2391-993E34810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469" y="3771765"/>
            <a:ext cx="4235374" cy="218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5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Override1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1E5155"/>
    </a:dk2>
    <a:lt2>
      <a:srgbClr val="EBEBEB"/>
    </a:lt2>
    <a:accent1>
      <a:srgbClr val="B01513"/>
    </a:accent1>
    <a:accent2>
      <a:srgbClr val="EA6312"/>
    </a:accent2>
    <a:accent3>
      <a:srgbClr val="E6B729"/>
    </a:accent3>
    <a:accent4>
      <a:srgbClr val="6AAC90"/>
    </a:accent4>
    <a:accent5>
      <a:srgbClr val="54849A"/>
    </a:accent5>
    <a:accent6>
      <a:srgbClr val="9E5E9B"/>
    </a:accent6>
    <a:hlink>
      <a:srgbClr val="58C1BA"/>
    </a:hlink>
    <a:folHlink>
      <a:srgbClr val="9DFFC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1127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Wingdings 3</vt:lpstr>
      <vt:lpstr>Work Sans</vt:lpstr>
      <vt:lpstr>Ion</vt:lpstr>
      <vt:lpstr>Next Hikes IT Solutions</vt:lpstr>
      <vt:lpstr>Introduction – Roshan Kumar</vt:lpstr>
      <vt:lpstr>PowerPoint Presentation</vt:lpstr>
      <vt:lpstr>Dataset_2 – Data Cleaning &amp; Standardization</vt:lpstr>
      <vt:lpstr>Dataset_3 – Feature Engineering &amp; Visualization Readiness</vt:lpstr>
      <vt:lpstr>Result(A) – Power Query Transformation &amp; Data Merging</vt:lpstr>
      <vt:lpstr>Result(B) – Data Appending &amp; Final Feature Creation</vt:lpstr>
      <vt:lpstr>Pivot Tables &amp; Dashboard Backend (Result A &amp; Result B)</vt:lpstr>
      <vt:lpstr>Dashboard Design &amp; Interactivity  (Dashboard A &amp; Dashboard 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 Kumar</dc:creator>
  <cp:lastModifiedBy>Roshan Kumar</cp:lastModifiedBy>
  <cp:revision>4</cp:revision>
  <dcterms:created xsi:type="dcterms:W3CDTF">2026-01-20T23:32:32Z</dcterms:created>
  <dcterms:modified xsi:type="dcterms:W3CDTF">2026-01-21T04:14:07Z</dcterms:modified>
</cp:coreProperties>
</file>